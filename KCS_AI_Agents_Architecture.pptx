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074920"/>
            <a:ext cx="12191695" cy="1783080"/>
          </a:xfrm>
          <a:prstGeom prst="roundRect">
            <a:avLst>
              <a:gd name="adj" fmla="val 8000"/>
            </a:avLst>
          </a:prstGeom>
          <a:solidFill>
            <a:srgbClr val="16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29A2C"/>
                </a:solidFill>
                <a:latin typeface="맑은 고딕"/>
              </a:rPr>
              <a:t>관세청 AI 통합 분석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05740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맑은 고딕"/>
              </a:rPr>
              <a:t>KCS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CADCFC"/>
                </a:solidFill>
                <a:latin typeface="맑은 고딕"/>
              </a:rPr>
              <a:t>LangGraph 기반 멀티 에이전트 · 3중 데이터 계층 · 노드형 플로우 빌더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44068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ADCFC"/>
                </a:solidFill>
                <a:latin typeface="맑은 고딕"/>
              </a:rPr>
              <a:t>전체 패키지 · 아키텍처 · 데이터 흐름 · 기술 스택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0D0"/>
                </a:solidFill>
                <a:latin typeface="맑은 고딕"/>
              </a:rPr>
              <a:t>Python 3.11 · LangChain/LangGraph · DuckDB · Neo4j · ChromaDB · Vanilla 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맑은 고딕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2033"/>
                </a:solidFill>
                <a:latin typeface="맑은 고딕"/>
              </a:rPr>
              <a:t>한눈에 보는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3502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맑은 고딕"/>
              </a:rPr>
              <a:t>관세조사·수사 업무를 위한 AI 에이전트 오케스트레이션 플랫폼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600200"/>
            <a:ext cx="2670048" cy="141732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216" y="1600200"/>
            <a:ext cx="109728" cy="1417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55648"/>
            <a:ext cx="23774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C7293"/>
                </a:solidFill>
                <a:latin typeface="맑은 고딕"/>
              </a:rPr>
              <a:t>30+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87168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2033"/>
                </a:solidFill>
                <a:latin typeface="맑은 고딕"/>
              </a:rPr>
              <a:t>독립 AI 에이전트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00200"/>
            <a:ext cx="2670048" cy="141732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600200"/>
            <a:ext cx="109728" cy="14173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755648"/>
            <a:ext cx="23774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065A82"/>
                </a:solidFill>
                <a:latin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87168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2033"/>
                </a:solidFill>
                <a:latin typeface="맑은 고딕"/>
              </a:rPr>
              <a:t>데이터 계층 (관계·그래프·벡터)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600200"/>
            <a:ext cx="2670048" cy="141732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600200"/>
            <a:ext cx="109728" cy="14173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55648"/>
            <a:ext cx="23774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2A9D8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487168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2033"/>
                </a:solidFill>
                <a:latin typeface="맑은 고딕"/>
              </a:rPr>
              <a:t>조사 분석 도메인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408" y="1600200"/>
            <a:ext cx="2670048" cy="141732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79408" y="1600200"/>
            <a:ext cx="109728" cy="1417320"/>
          </a:xfrm>
          <a:prstGeom prst="rect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755648"/>
            <a:ext cx="23774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29A2C"/>
                </a:solidFill>
                <a:latin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487168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2033"/>
                </a:solidFill>
                <a:latin typeface="맑은 고딕"/>
              </a:rPr>
              <a:t>LLM 프로바이더 라우팅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3383280"/>
            <a:ext cx="1101852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502152"/>
            <a:ext cx="23774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C7293"/>
                </a:solidFill>
                <a:latin typeface="맑은 고딕"/>
              </a:rPr>
              <a:t>무엇인가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502152"/>
            <a:ext cx="8229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2033"/>
                </a:solidFill>
                <a:latin typeface="맑은 고딕"/>
              </a:rPr>
              <a:t>수입신고·기업거래·우범자 반입 데이터를 AI 에이전트로 다각 분석하고 보고서를 자동 생성하는 웹 플랫폼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4443984"/>
            <a:ext cx="1101852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62856"/>
            <a:ext cx="23774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C7293"/>
                </a:solidFill>
                <a:latin typeface="맑은 고딕"/>
              </a:rPr>
              <a:t>어떻게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562856"/>
            <a:ext cx="8229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2033"/>
                </a:solidFill>
                <a:latin typeface="맑은 고딕"/>
              </a:rPr>
              <a:t>사용자가 조사 대상과 시나리오를 구성하면 LangGraph StateGraph가 에이전트들을 순차 실행하여 결과를 누적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" y="5504688"/>
            <a:ext cx="1101852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623560"/>
            <a:ext cx="23774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C7293"/>
                </a:solidFill>
                <a:latin typeface="맑은 고딕"/>
              </a:rPr>
              <a:t>핵심 가치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623560"/>
            <a:ext cx="82296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2033"/>
                </a:solidFill>
                <a:latin typeface="맑은 고딕"/>
              </a:rPr>
              <a:t>DuckDB(수치)·Neo4j(관계망)·ChromaDB(의미검색) 3중 데이터로 한국어 RAG 기반 심층 분석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맑은 고딕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2033"/>
                </a:solidFill>
                <a:latin typeface="맑은 고딕"/>
              </a:rPr>
              <a:t>4계층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3502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맑은 고딕"/>
              </a:rPr>
              <a:t>프론트엔드 → 서버 → 워크플로우 오케스트레이션 → 에이전트 →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691640"/>
            <a:ext cx="9601200" cy="841248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801368"/>
            <a:ext cx="90525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맑은 고딕"/>
              </a:rPr>
              <a:t>프론트엔드 (Vanilla JS SPA)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맑은 고딕"/>
              </a:rPr>
              <a:t>pages · analysis(4도메인) · core · shared 컴포넌트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97880" y="2542032"/>
            <a:ext cx="365760" cy="164592"/>
          </a:xfrm>
          <a:prstGeom prst="down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2715768"/>
            <a:ext cx="9601200" cy="841248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2825496"/>
            <a:ext cx="90525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맑은 고딕"/>
              </a:rPr>
              <a:t>HTTP 서버  ·  web_server.py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맑은 고딕"/>
              </a:rPr>
              <a:t>ThreadingHTTPServer · JSON API · UTF-8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97880" y="3566160"/>
            <a:ext cx="365760" cy="164592"/>
          </a:xfrm>
          <a:prstGeom prst="down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80160" y="3739896"/>
            <a:ext cx="9601200" cy="841248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3849624"/>
            <a:ext cx="90525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맑은 고딕"/>
              </a:rPr>
              <a:t>워크플로우 오케스트레이션  ·  workflows.py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맑은 고딕"/>
              </a:rPr>
              <a:t>LangGraph StateGraph · CustomsState 상태 누적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97880" y="4590288"/>
            <a:ext cx="365760" cy="164592"/>
          </a:xfrm>
          <a:prstGeom prst="down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80160" y="4764024"/>
            <a:ext cx="9601200" cy="841248"/>
          </a:xfrm>
          <a:prstGeom prst="roundRect">
            <a:avLst>
              <a:gd name="adj" fmla="val 8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4873752"/>
            <a:ext cx="90525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맑은 고딕"/>
              </a:rPr>
              <a:t>AI 에이전트 계층  ·  src/agents/*.py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맑은 고딕"/>
              </a:rPr>
              <a:t>분석 → 검증 → 관계망 → 생성 (30+ 모듈, 레지스트리 기반)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5806440"/>
            <a:ext cx="96012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B2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5824728"/>
            <a:ext cx="9052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44E"/>
                </a:solidFill>
                <a:latin typeface="맑은 고딕"/>
              </a:rPr>
              <a:t>데이터 계층    </a:t>
            </a:r>
            <a:r>
              <a:rPr sz="1350" b="0">
                <a:solidFill>
                  <a:srgbClr val="1A2033"/>
                </a:solidFill>
                <a:latin typeface="맑은 고딕"/>
              </a:rPr>
              <a:t>DuckDB (OLAP)   ·   Neo4j (그래프)   ·   ChromaDB (벡터/RAG)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맑은 고딕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2033"/>
                </a:solidFill>
                <a:latin typeface="맑은 고딕"/>
              </a:rP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3502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맑은 고딕"/>
              </a:rPr>
              <a:t>언어 · AI 프레임워크 · 데이터 · 프론트엔드 · 인프라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691640"/>
            <a:ext cx="3593592" cy="14813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1929384"/>
            <a:ext cx="182880" cy="1828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1837944"/>
            <a:ext cx="2862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033"/>
                </a:solidFill>
                <a:latin typeface="맑은 고딕"/>
              </a:rPr>
              <a:t>언어 · 런타임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95144"/>
            <a:ext cx="313639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Python 3.10–3.12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Vanilla JavaScript (ES6+)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stdlib HTTP 서버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593592" cy="14813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3712" y="1929384"/>
            <a:ext cx="182880" cy="1828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608" y="1837944"/>
            <a:ext cx="2862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033"/>
                </a:solidFill>
                <a:latin typeface="맑은 고딕"/>
              </a:rPr>
              <a:t>AI ·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95144"/>
            <a:ext cx="313639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LangChain + LangGraph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OpenAI · Anthropic · Google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ko-sroberta 임베딩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691640"/>
            <a:ext cx="3593592" cy="14813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66176" y="1929384"/>
            <a:ext cx="182880" cy="1828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1837944"/>
            <a:ext cx="2862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033"/>
                </a:solidFill>
                <a:latin typeface="맑은 고딕"/>
              </a:rPr>
              <a:t>데이터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295144"/>
            <a:ext cx="313639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DuckDB (로컬 OLAP)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Neo4j 5.26+ (그래프)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ChromaDB (벡터)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" y="3374136"/>
            <a:ext cx="3593592" cy="14813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" y="3611880"/>
            <a:ext cx="182880" cy="182880"/>
          </a:xfrm>
          <a:prstGeom prst="ellipse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2144" y="3520440"/>
            <a:ext cx="2862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033"/>
                </a:solidFill>
                <a:latin typeface="맑은 고딕"/>
              </a:rPr>
              <a:t>프론트엔드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977640"/>
            <a:ext cx="313639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모듈식 SPA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Drawflow (노드 UI)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Dagre (그래프 레이아웃)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374136"/>
            <a:ext cx="3593592" cy="14813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53712" y="3611880"/>
            <a:ext cx="182880" cy="182880"/>
          </a:xfrm>
          <a:prstGeom prst="ellipse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8" y="3520440"/>
            <a:ext cx="2862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033"/>
                </a:solidFill>
                <a:latin typeface="맑은 고딕"/>
              </a:rPr>
              <a:t>문서 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977640"/>
            <a:ext cx="313639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PyPDF4 (PDF)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openpyxl (Excel)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pandas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3374136"/>
            <a:ext cx="3593592" cy="14813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66176" y="3611880"/>
            <a:ext cx="182880" cy="1828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77072" y="3520440"/>
            <a:ext cx="2862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033"/>
                </a:solidFill>
                <a:latin typeface="맑은 고딕"/>
              </a:rPr>
              <a:t>인프라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3977640"/>
            <a:ext cx="313639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Docker · Compose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Neo4j 컨테이너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·  .env / YAML 설정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맑은 고딕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2033"/>
                </a:solidFill>
                <a:latin typeface="맑은 고딕"/>
              </a:rPr>
              <a:t>백엔드 핵심 모듈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3502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맑은 고딕"/>
              </a:rPr>
              <a:t>src/ — 진입점부터 데이터 헬퍼까지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645920"/>
            <a:ext cx="5394960" cy="84124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73736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65A82"/>
                </a:solidFill>
                <a:latin typeface="맑은 고딕"/>
              </a:rPr>
              <a:t>web_server.py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066544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맑은 고딕"/>
              </a:rPr>
              <a:t>HTTP API 진입점 · ThreadingHTTPServer · JSON 응답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596896"/>
            <a:ext cx="5394960" cy="84124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688336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65A82"/>
                </a:solidFill>
                <a:latin typeface="맑은 고딕"/>
              </a:rPr>
              <a:t>workflows.py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3017520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맑은 고딕"/>
              </a:rPr>
              <a:t>LangGraph StateGraph 조립 · create_initial_state()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3547872"/>
            <a:ext cx="5394960" cy="84124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3639312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65A82"/>
                </a:solidFill>
                <a:latin typeface="맑은 고딕"/>
              </a:rPr>
              <a:t>agents/state.py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3968496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맑은 고딕"/>
              </a:rPr>
              <a:t>CustomsState (TypedDict) — 단계별 결과 누적 상태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4498848"/>
            <a:ext cx="5394960" cy="84124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4590288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65A82"/>
                </a:solidFill>
                <a:latin typeface="맑은 고딕"/>
              </a:rPr>
              <a:t>agents/module_registry.py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4919472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맑은 고딕"/>
              </a:rPr>
              <a:t>AGENT_MODULES · 에이전트 등록/조회 레지스트리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" y="5449824"/>
            <a:ext cx="5394960" cy="84124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554126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65A82"/>
                </a:solidFill>
                <a:latin typeface="맑은 고딕"/>
              </a:rPr>
              <a:t>agents/service_registry.py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5870448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맑은 고딕"/>
              </a:rPr>
              <a:t>AI 서비스/RAG 타입 설정 · 기본 프롬프트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7" y="1645920"/>
            <a:ext cx="5394960" cy="84124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173736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65A82"/>
                </a:solidFill>
                <a:latin typeface="맑은 고딕"/>
              </a:rPr>
              <a:t>config.py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2066544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맑은 고딕"/>
              </a:rPr>
              <a:t>YAML 설정 로더 (CFG 싱글턴 · thresholds.yaml)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7" y="2596896"/>
            <a:ext cx="5394960" cy="84124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7" y="2688336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65A82"/>
                </a:solidFill>
                <a:latin typeface="맑은 고딕"/>
              </a:rPr>
              <a:t>llm.py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3017520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맑은 고딕"/>
              </a:rPr>
              <a:t>LLM 프로바이더 라우팅 (OpenAI/Anthropic/Gemini)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7" y="3547872"/>
            <a:ext cx="5394960" cy="84124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7" y="3639312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65A82"/>
                </a:solidFill>
                <a:latin typeface="맑은 고딕"/>
              </a:rPr>
              <a:t>embeddings.py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3968496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맑은 고딕"/>
              </a:rPr>
              <a:t>HuggingFace 한국어 임베딩 싱글턴 캐시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7" y="4498848"/>
            <a:ext cx="5394960" cy="84124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7" y="4590288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65A82"/>
                </a:solidFill>
                <a:latin typeface="맑은 고딕"/>
              </a:rPr>
              <a:t>neo4j_graph.py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4919472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맑은 고딕"/>
              </a:rPr>
              <a:t>관계망 그래프 빌드 (build_*_network_graph)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5449824"/>
            <a:ext cx="5394960" cy="84124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7" y="554126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65A82"/>
                </a:solidFill>
                <a:latin typeface="맑은 고딕"/>
              </a:rPr>
              <a:t>paths.py / encoding.py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7" y="5870448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7B"/>
                </a:solidFill>
                <a:latin typeface="맑은 고딕"/>
              </a:rPr>
              <a:t>경로 상수 관리 · UTF-8 입출력 강제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29A2C"/>
                </a:solidFill>
                <a:latin typeface="맑은 고딕"/>
              </a:rPr>
              <a:t>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AI 에이전트 계층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3502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ADCFC"/>
                </a:solidFill>
                <a:latin typeface="맑은 고딕"/>
              </a:rPr>
              <a:t>30+ 독립 에이전트가 4단계 파이프라인으로 협업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737360"/>
            <a:ext cx="2670048" cy="4206240"/>
          </a:xfrm>
          <a:prstGeom prst="roundRect">
            <a:avLst>
              <a:gd name="adj" fmla="val 8000"/>
            </a:avLst>
          </a:prstGeom>
          <a:solidFill>
            <a:srgbClr val="22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1737360"/>
            <a:ext cx="2670048" cy="658368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783080"/>
            <a:ext cx="267004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1. 분석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606040"/>
            <a:ext cx="2267712" cy="603504"/>
          </a:xfrm>
          <a:prstGeom prst="roundRect">
            <a:avLst>
              <a:gd name="adj" fmla="val 8000"/>
            </a:avLst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42616"/>
            <a:ext cx="2103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맑은 고딕"/>
              </a:rPr>
              <a:t>agent_company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337560"/>
            <a:ext cx="2267712" cy="603504"/>
          </a:xfrm>
          <a:prstGeom prst="roundRect">
            <a:avLst>
              <a:gd name="adj" fmla="val 8000"/>
            </a:avLst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74136"/>
            <a:ext cx="2103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맑은 고딕"/>
              </a:rPr>
              <a:t>agent_db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4069080"/>
            <a:ext cx="2267712" cy="603504"/>
          </a:xfrm>
          <a:prstGeom prst="roundRect">
            <a:avLst>
              <a:gd name="adj" fmla="val 8000"/>
            </a:avLst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05656"/>
            <a:ext cx="2103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맑은 고딕"/>
              </a:rPr>
              <a:t>agent_rag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800600"/>
            <a:ext cx="2267712" cy="603504"/>
          </a:xfrm>
          <a:prstGeom prst="roundRect">
            <a:avLst>
              <a:gd name="adj" fmla="val 8000"/>
            </a:avLst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37176"/>
            <a:ext cx="2103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맑은 고딕"/>
              </a:rPr>
              <a:t>agent_audit_search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737360"/>
            <a:ext cx="2670048" cy="4206240"/>
          </a:xfrm>
          <a:prstGeom prst="roundRect">
            <a:avLst>
              <a:gd name="adj" fmla="val 8000"/>
            </a:avLst>
          </a:prstGeom>
          <a:solidFill>
            <a:srgbClr val="22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83280" y="1737360"/>
            <a:ext cx="2670048" cy="658368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783080"/>
            <a:ext cx="267004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2. 검증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84448" y="2606040"/>
            <a:ext cx="2267712" cy="603504"/>
          </a:xfrm>
          <a:prstGeom prst="roundRect">
            <a:avLst>
              <a:gd name="adj" fmla="val 8000"/>
            </a:avLst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2464" y="2642616"/>
            <a:ext cx="2103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맑은 고딕"/>
              </a:rPr>
              <a:t>declaration_verify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84448" y="3337560"/>
            <a:ext cx="2267712" cy="603504"/>
          </a:xfrm>
          <a:prstGeom prst="roundRect">
            <a:avLst>
              <a:gd name="adj" fmla="val 8000"/>
            </a:avLst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12464" y="3374136"/>
            <a:ext cx="2103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맑은 고딕"/>
              </a:rPr>
              <a:t>hs_code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84448" y="4069080"/>
            <a:ext cx="2267712" cy="603504"/>
          </a:xfrm>
          <a:prstGeom prst="roundRect">
            <a:avLst>
              <a:gd name="adj" fmla="val 8000"/>
            </a:avLst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105656"/>
            <a:ext cx="2103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맑은 고딕"/>
              </a:rPr>
              <a:t>customs_value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84448" y="4800600"/>
            <a:ext cx="2267712" cy="603504"/>
          </a:xfrm>
          <a:prstGeom prst="roundRect">
            <a:avLst>
              <a:gd name="adj" fmla="val 8000"/>
            </a:avLst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12464" y="4837176"/>
            <a:ext cx="2103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맑은 고딕"/>
              </a:rPr>
              <a:t>origin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1344" y="1737360"/>
            <a:ext cx="2670048" cy="4206240"/>
          </a:xfrm>
          <a:prstGeom prst="roundRect">
            <a:avLst>
              <a:gd name="adj" fmla="val 8000"/>
            </a:avLst>
          </a:prstGeom>
          <a:solidFill>
            <a:srgbClr val="22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81344" y="1737360"/>
            <a:ext cx="2670048" cy="658368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81344" y="1783080"/>
            <a:ext cx="267004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3. 관계망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2512" y="2606040"/>
            <a:ext cx="2267712" cy="603504"/>
          </a:xfrm>
          <a:prstGeom prst="roundRect">
            <a:avLst>
              <a:gd name="adj" fmla="val 8000"/>
            </a:avLst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2642616"/>
            <a:ext cx="2103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맑은 고딕"/>
              </a:rPr>
              <a:t>agent_network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82512" y="3337560"/>
            <a:ext cx="2267712" cy="603504"/>
          </a:xfrm>
          <a:prstGeom prst="roundRect">
            <a:avLst>
              <a:gd name="adj" fmla="val 8000"/>
            </a:avLst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3374136"/>
            <a:ext cx="2103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맑은 고딕"/>
              </a:rPr>
              <a:t>abnormal_trade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4069080"/>
            <a:ext cx="2267712" cy="603504"/>
          </a:xfrm>
          <a:prstGeom prst="roundRect">
            <a:avLst>
              <a:gd name="adj" fmla="val 8000"/>
            </a:avLst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4105656"/>
            <a:ext cx="2103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맑은 고딕"/>
              </a:rPr>
              <a:t>proceeds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82512" y="4800600"/>
            <a:ext cx="2267712" cy="603504"/>
          </a:xfrm>
          <a:prstGeom prst="roundRect">
            <a:avLst>
              <a:gd name="adj" fmla="val 8000"/>
            </a:avLst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4837176"/>
            <a:ext cx="2103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맑은 고딕"/>
              </a:rPr>
              <a:t>person_risk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9408" y="1737360"/>
            <a:ext cx="2670048" cy="4206240"/>
          </a:xfrm>
          <a:prstGeom prst="roundRect">
            <a:avLst>
              <a:gd name="adj" fmla="val 8000"/>
            </a:avLst>
          </a:prstGeom>
          <a:solidFill>
            <a:srgbClr val="22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79408" y="1737360"/>
            <a:ext cx="2670048" cy="658368"/>
          </a:xfrm>
          <a:prstGeom prst="roundRect">
            <a:avLst>
              <a:gd name="adj" fmla="val 8000"/>
            </a:avLst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8" y="1783080"/>
            <a:ext cx="267004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4. 생성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0576" y="2606040"/>
            <a:ext cx="2267712" cy="603504"/>
          </a:xfrm>
          <a:prstGeom prst="roundRect">
            <a:avLst>
              <a:gd name="adj" fmla="val 8000"/>
            </a:avLst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08592" y="2642616"/>
            <a:ext cx="2103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맑은 고딕"/>
              </a:rPr>
              <a:t>report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0576" y="3337560"/>
            <a:ext cx="2267712" cy="603504"/>
          </a:xfrm>
          <a:prstGeom prst="roundRect">
            <a:avLst>
              <a:gd name="adj" fmla="val 8000"/>
            </a:avLst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08592" y="3374136"/>
            <a:ext cx="2103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맑은 고딕"/>
              </a:rPr>
              <a:t>summary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80576" y="4069080"/>
            <a:ext cx="2267712" cy="603504"/>
          </a:xfrm>
          <a:prstGeom prst="roundRect">
            <a:avLst>
              <a:gd name="adj" fmla="val 8000"/>
            </a:avLst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08592" y="4105656"/>
            <a:ext cx="2103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맑은 고딕"/>
              </a:rPr>
              <a:t>translate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80576" y="4800600"/>
            <a:ext cx="2267712" cy="603504"/>
          </a:xfrm>
          <a:prstGeom prst="roundRect">
            <a:avLst>
              <a:gd name="adj" fmla="val 8000"/>
            </a:avLst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08592" y="4837176"/>
            <a:ext cx="21031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맑은 고딕"/>
              </a:rPr>
              <a:t>result_synthesis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" y="61264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0D0"/>
                </a:solidFill>
                <a:latin typeface="맑은 고딕"/>
              </a:rPr>
              <a:t>레지스트리 기반 등록으로 에이전트 추가·교체·테스트가 독립적 — 결과는 모두 CustomsState 에 누적됩니다.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맑은 고딕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2033"/>
                </a:solidFill>
                <a:latin typeface="맑은 고딕"/>
              </a:rPr>
              <a:t>3중 데이터 계층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3502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맑은 고딕"/>
              </a:rPr>
              <a:t>수치 · 관계망 · 의미검색을 각각 최적의 저장소로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691640"/>
            <a:ext cx="3593592" cy="416052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1691640"/>
            <a:ext cx="3593592" cy="96012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8308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DuckDB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86000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</a:rPr>
              <a:t>관계형 OLAP</a:t>
            </a:r>
          </a:p>
        </p:txBody>
      </p:sp>
      <p:sp>
        <p:nvSpPr>
          <p:cNvPr id="10" name="Oval 9"/>
          <p:cNvSpPr/>
          <p:nvPr/>
        </p:nvSpPr>
        <p:spPr>
          <a:xfrm>
            <a:off x="877824" y="2999232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2926080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customs.duckdb (단일 파일)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3657600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3584448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company · import · risk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4315968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242816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수치/집계 분석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" y="4974336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4901183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pandas .df() 연동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691640"/>
            <a:ext cx="3593592" cy="416052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79" y="1691640"/>
            <a:ext cx="3593592" cy="9601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178308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Neo4j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286000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</a:rPr>
              <a:t>그래프 DB</a:t>
            </a:r>
          </a:p>
        </p:txBody>
      </p:sp>
      <p:sp>
        <p:nvSpPr>
          <p:cNvPr id="22" name="Oval 21"/>
          <p:cNvSpPr/>
          <p:nvPr/>
        </p:nvSpPr>
        <p:spPr>
          <a:xfrm>
            <a:off x="4590288" y="2999232"/>
            <a:ext cx="91440" cy="914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599" y="2926080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인물·기업·사건 노드</a:t>
            </a:r>
          </a:p>
        </p:txBody>
      </p:sp>
      <p:sp>
        <p:nvSpPr>
          <p:cNvPr id="24" name="Oval 23"/>
          <p:cNvSpPr/>
          <p:nvPr/>
        </p:nvSpPr>
        <p:spPr>
          <a:xfrm>
            <a:off x="4590288" y="3657600"/>
            <a:ext cx="91440" cy="914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599" y="3584448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거래/관계 엣지</a:t>
            </a:r>
          </a:p>
        </p:txBody>
      </p:sp>
      <p:sp>
        <p:nvSpPr>
          <p:cNvPr id="26" name="Oval 25"/>
          <p:cNvSpPr/>
          <p:nvPr/>
        </p:nvSpPr>
        <p:spPr>
          <a:xfrm>
            <a:off x="4590288" y="4315968"/>
            <a:ext cx="91440" cy="914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4242816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관계망 시각화 소스</a:t>
            </a:r>
          </a:p>
        </p:txBody>
      </p:sp>
      <p:sp>
        <p:nvSpPr>
          <p:cNvPr id="28" name="Oval 27"/>
          <p:cNvSpPr/>
          <p:nvPr/>
        </p:nvSpPr>
        <p:spPr>
          <a:xfrm>
            <a:off x="4590288" y="4974336"/>
            <a:ext cx="91440" cy="914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599" y="4901183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Docker 컨테이너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0143" y="1691640"/>
            <a:ext cx="3593592" cy="416052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10143" y="1691640"/>
            <a:ext cx="3593592" cy="960120"/>
          </a:xfrm>
          <a:prstGeom prst="roundRect">
            <a:avLst>
              <a:gd name="adj" fmla="val 8000"/>
            </a:avLst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3" y="178308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ChromaDB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1" y="2286000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</a:rPr>
              <a:t>벡터 / RAG</a:t>
            </a:r>
          </a:p>
        </p:txBody>
      </p:sp>
      <p:sp>
        <p:nvSpPr>
          <p:cNvPr id="34" name="Oval 33"/>
          <p:cNvSpPr/>
          <p:nvPr/>
        </p:nvSpPr>
        <p:spPr>
          <a:xfrm>
            <a:off x="8302751" y="2999232"/>
            <a:ext cx="91440" cy="91440"/>
          </a:xfrm>
          <a:prstGeom prst="ellipse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13063" y="2926080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chroma_db/ (5개 컬렉션)</a:t>
            </a:r>
          </a:p>
        </p:txBody>
      </p:sp>
      <p:sp>
        <p:nvSpPr>
          <p:cNvPr id="36" name="Oval 35"/>
          <p:cNvSpPr/>
          <p:nvPr/>
        </p:nvSpPr>
        <p:spPr>
          <a:xfrm>
            <a:off x="8302751" y="3657600"/>
            <a:ext cx="91440" cy="91440"/>
          </a:xfrm>
          <a:prstGeom prst="ellipse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13063" y="3584448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ko-sroberta 임베딩</a:t>
            </a:r>
          </a:p>
        </p:txBody>
      </p:sp>
      <p:sp>
        <p:nvSpPr>
          <p:cNvPr id="38" name="Oval 37"/>
          <p:cNvSpPr/>
          <p:nvPr/>
        </p:nvSpPr>
        <p:spPr>
          <a:xfrm>
            <a:off x="8302751" y="4315968"/>
            <a:ext cx="91440" cy="91440"/>
          </a:xfrm>
          <a:prstGeom prst="ellipse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13063" y="4242816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의미 기반 검색</a:t>
            </a:r>
          </a:p>
        </p:txBody>
      </p:sp>
      <p:sp>
        <p:nvSpPr>
          <p:cNvPr id="40" name="Oval 39"/>
          <p:cNvSpPr/>
          <p:nvPr/>
        </p:nvSpPr>
        <p:spPr>
          <a:xfrm>
            <a:off x="8302751" y="4974336"/>
            <a:ext cx="91440" cy="91440"/>
          </a:xfrm>
          <a:prstGeom prst="ellipse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13063" y="4901183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한국어 문맥 이해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맑은 고딕"/>
              </a:rP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2033"/>
                </a:solidFill>
                <a:latin typeface="맑은 고딕"/>
              </a:rPr>
              <a:t>데이터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3502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맑은 고딕"/>
              </a:rPr>
              <a:t>요청 한 번이 상태 그래프를 따라 흐르는 경로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2011680"/>
            <a:ext cx="17556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157984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633472"/>
            <a:ext cx="14813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033"/>
                </a:solidFill>
                <a:latin typeface="맑은 고딕"/>
              </a:rPr>
              <a:t>웹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962656"/>
            <a:ext cx="1536192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맑은 고딕"/>
              </a:rPr>
              <a:t>조사대상·시나리오 입력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40864" y="2606040"/>
            <a:ext cx="146304" cy="1828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87168" y="2011680"/>
            <a:ext cx="17556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51760" y="2157984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2633472"/>
            <a:ext cx="14813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033"/>
                </a:solidFill>
                <a:latin typeface="맑은 고딕"/>
              </a:rPr>
              <a:t>web_server.py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962656"/>
            <a:ext cx="1536192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맑은 고딕"/>
              </a:rPr>
              <a:t>JSON 요청 파싱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242816" y="2606040"/>
            <a:ext cx="146304" cy="1828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2011680"/>
            <a:ext cx="17556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53712" y="2157984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633472"/>
            <a:ext cx="14813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033"/>
                </a:solidFill>
                <a:latin typeface="맑은 고딕"/>
              </a:rPr>
              <a:t>workflows.py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962656"/>
            <a:ext cx="1536192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맑은 고딕"/>
              </a:rPr>
              <a:t>CustomsState 초기화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44768" y="2606040"/>
            <a:ext cx="146304" cy="1828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91072" y="2011680"/>
            <a:ext cx="17556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2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55664" y="2157984"/>
            <a:ext cx="384048" cy="384048"/>
          </a:xfrm>
          <a:prstGeom prst="ellipse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633472"/>
            <a:ext cx="14813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033"/>
                </a:solidFill>
                <a:latin typeface="맑은 고딕"/>
              </a:rPr>
              <a:t>에이전트 체인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62656"/>
            <a:ext cx="1536192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맑은 고딕"/>
              </a:rPr>
              <a:t>단계별 실행·결과 누적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046720" y="2606040"/>
            <a:ext cx="146304" cy="1828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93024" y="2011680"/>
            <a:ext cx="17556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9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57616" y="2157984"/>
            <a:ext cx="384048" cy="384048"/>
          </a:xfrm>
          <a:prstGeom prst="ellipse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2633472"/>
            <a:ext cx="14813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033"/>
                </a:solidFill>
                <a:latin typeface="맑은 고딕"/>
              </a:rPr>
              <a:t>result_synthesis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2962656"/>
            <a:ext cx="1536192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맑은 고딕"/>
              </a:rPr>
              <a:t>최종 종합 → JSON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948672" y="2606040"/>
            <a:ext cx="146304" cy="1828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94976" y="2011680"/>
            <a:ext cx="17556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59568" y="2157984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32136" y="2633472"/>
            <a:ext cx="14813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033"/>
                </a:solidFill>
                <a:latin typeface="맑은 고딕"/>
              </a:rPr>
              <a:t>웹 UI 렌더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04704" y="2962656"/>
            <a:ext cx="1536192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B"/>
                </a:solidFill>
                <a:latin typeface="맑은 고딕"/>
              </a:rPr>
              <a:t>대시보드·보고서 표시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" y="3931920"/>
            <a:ext cx="110185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114800"/>
            <a:ext cx="1042416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C7293"/>
                </a:solidFill>
                <a:latin typeface="맑은 고딕"/>
              </a:rPr>
              <a:t>상태 기반 워크플로우 (StateGraph)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각 에이전트의 출력은 공유 CustomsState 에 키별로 저장되어 다음 단계가 이전 결과를 참조합니다.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사용자 진행 상태는 data/workspace_state/{userId}.json 에 개인별로 분리 저장 — 멀티 사용자 이력 관리.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맑은 고딕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2033"/>
                </a:solidFill>
                <a:latin typeface="맑은 고딕"/>
              </a:rPr>
              <a:t>프론트엔드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3502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맑은 고딕"/>
              </a:rPr>
              <a:t>web/static/js — 모듈식 단일 페이지 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691640"/>
            <a:ext cx="3593592" cy="43434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47088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65A82"/>
                </a:solidFill>
                <a:latin typeface="맑은 고딕"/>
              </a:rPr>
              <a:t>pages/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48716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487168"/>
            <a:ext cx="29260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033"/>
                </a:solidFill>
                <a:latin typeface="맑은 고딕"/>
              </a:rPr>
              <a:t>home.js — 홈 컴포저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12724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3127248"/>
            <a:ext cx="29260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033"/>
                </a:solidFill>
                <a:latin typeface="맑은 고딕"/>
              </a:rPr>
              <a:t>scenario-builder.js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76732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767328"/>
            <a:ext cx="29260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033"/>
                </a:solidFill>
                <a:latin typeface="맑은 고딕"/>
              </a:rPr>
              <a:t>agentic-service.js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40740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07408"/>
            <a:ext cx="29260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033"/>
                </a:solidFill>
                <a:latin typeface="맑은 고딕"/>
              </a:rPr>
              <a:t>agentic-flow.js (Drawflow)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504748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5047488"/>
            <a:ext cx="29260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033"/>
                </a:solidFill>
                <a:latin typeface="맑은 고딕"/>
              </a:rPr>
              <a:t>intl.js — 국제정보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691640"/>
            <a:ext cx="3593592" cy="43434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999" y="1847088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2A9D8F"/>
                </a:solidFill>
                <a:latin typeface="맑은 고딕"/>
              </a:rPr>
              <a:t>analysis/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53712" y="248716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59" y="2487168"/>
            <a:ext cx="29260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033"/>
                </a:solidFill>
                <a:latin typeface="맑은 고딕"/>
              </a:rPr>
              <a:t>customs/ — 관세조사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53712" y="312724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3127248"/>
            <a:ext cx="29260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033"/>
                </a:solidFill>
                <a:latin typeface="맑은 고딕"/>
              </a:rPr>
              <a:t>general-investigation/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53712" y="376732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3767328"/>
            <a:ext cx="29260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033"/>
                </a:solidFill>
                <a:latin typeface="맑은 고딕"/>
              </a:rPr>
              <a:t>special-investigation/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53712" y="440740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4407408"/>
            <a:ext cx="29260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033"/>
                </a:solidFill>
                <a:latin typeface="맑은 고딕"/>
              </a:rPr>
              <a:t>shared/ — 공유 컴포넌트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0143" y="1691640"/>
            <a:ext cx="3593592" cy="43434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3" y="1847088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B244E"/>
                </a:solidFill>
                <a:latin typeface="맑은 고딕"/>
              </a:rPr>
              <a:t>core / shared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66175" y="248716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21623" y="2487168"/>
            <a:ext cx="29260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033"/>
                </a:solidFill>
                <a:latin typeface="맑은 고딕"/>
              </a:rPr>
              <a:t>dom.js — 렌더/마크다운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66175" y="312724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1623" y="3127248"/>
            <a:ext cx="29260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033"/>
                </a:solidFill>
                <a:latin typeface="맑은 고딕"/>
              </a:rPr>
              <a:t>page-registry.js — 라우팅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66175" y="376732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1623" y="3767328"/>
            <a:ext cx="29260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033"/>
                </a:solidFill>
                <a:latin typeface="맑은 고딕"/>
              </a:rPr>
              <a:t>tabs.js — 탭/서브탭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66175" y="440740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21623" y="4407408"/>
            <a:ext cx="29260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033"/>
                </a:solidFill>
                <a:latin typeface="맑은 고딕"/>
              </a:rPr>
              <a:t>network-graph.js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6175" y="5047488"/>
            <a:ext cx="31089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21623" y="5047488"/>
            <a:ext cx="29260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033"/>
                </a:solidFill>
                <a:latin typeface="맑은 고딕"/>
              </a:rPr>
              <a:t>prompt-composer.js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맑은 고딕"/>
              </a:rPr>
              <a:t>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2033"/>
                </a:solidFill>
                <a:latin typeface="맑은 고딕"/>
              </a:rPr>
              <a:t>4가지 조사 분석 도메인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3502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맑은 고딕"/>
              </a:rPr>
              <a:t>도메인마다 전용 탭·상태·보고서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691640"/>
            <a:ext cx="5486400" cy="1993392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216" y="1691640"/>
            <a:ext cx="146304" cy="19933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7452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2033"/>
                </a:solidFill>
                <a:latin typeface="맑은 고딕"/>
              </a:rPr>
              <a:t>관세조사 (customs)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350008"/>
            <a:ext cx="4846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B7B"/>
                </a:solidFill>
                <a:latin typeface="맑은 고딕"/>
              </a:rPr>
              <a:t>대상: </a:t>
            </a:r>
            <a:r>
              <a:rPr sz="1200" b="1">
                <a:solidFill>
                  <a:srgbClr val="065A82"/>
                </a:solidFill>
                <a:latin typeface="맑은 고딕"/>
              </a:rPr>
              <a:t>기업 · company_id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715768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A6B7B"/>
                </a:solidFill>
                <a:latin typeface="맑은 고딕"/>
              </a:rPr>
              <a:t>초점  </a:t>
            </a:r>
            <a:r>
              <a:rPr sz="1250" b="0">
                <a:solidFill>
                  <a:srgbClr val="1A2033"/>
                </a:solidFill>
                <a:latin typeface="맑은 고딕"/>
              </a:rPr>
              <a:t>수입신고 위험 · 원산지 · 과세가격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15468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A6B7B"/>
                </a:solidFill>
                <a:latin typeface="맑은 고딕"/>
              </a:rPr>
              <a:t>탭  </a:t>
            </a:r>
            <a:r>
              <a:rPr sz="1150" b="0">
                <a:solidFill>
                  <a:srgbClr val="5A6B7B"/>
                </a:solidFill>
                <a:latin typeface="맑은 고딕"/>
              </a:rPr>
              <a:t>dashboard · profile · risk · scenario ·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691640"/>
            <a:ext cx="5486400" cy="1993392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691640"/>
            <a:ext cx="146304" cy="19933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187452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2033"/>
                </a:solidFill>
                <a:latin typeface="맑은 고딕"/>
              </a:rPr>
              <a:t>기업수사 (general)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350008"/>
            <a:ext cx="4846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B7B"/>
                </a:solidFill>
                <a:latin typeface="맑은 고딕"/>
              </a:rPr>
              <a:t>대상: </a:t>
            </a:r>
            <a:r>
              <a:rPr sz="1200" b="1">
                <a:solidFill>
                  <a:srgbClr val="1C7293"/>
                </a:solidFill>
                <a:latin typeface="맑은 고딕"/>
              </a:rPr>
              <a:t>기업 · company_id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2715768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A6B7B"/>
                </a:solidFill>
                <a:latin typeface="맑은 고딕"/>
              </a:rPr>
              <a:t>초점  </a:t>
            </a:r>
            <a:r>
              <a:rPr sz="1250" b="0">
                <a:solidFill>
                  <a:srgbClr val="1A2033"/>
                </a:solidFill>
                <a:latin typeface="맑은 고딕"/>
              </a:rPr>
              <a:t>거래 구조 · 부정 거래 · 관계사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315468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A6B7B"/>
                </a:solidFill>
                <a:latin typeface="맑은 고딕"/>
              </a:rPr>
              <a:t>탭  </a:t>
            </a:r>
            <a:r>
              <a:rPr sz="1150" b="0">
                <a:solidFill>
                  <a:srgbClr val="5A6B7B"/>
                </a:solidFill>
                <a:latin typeface="맑은 고딕"/>
              </a:rPr>
              <a:t>workbench · cases · profile ·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" y="3867912"/>
            <a:ext cx="5486400" cy="1993392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" y="3867912"/>
            <a:ext cx="146304" cy="19933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50792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2033"/>
                </a:solidFill>
                <a:latin typeface="맑은 고딕"/>
              </a:rPr>
              <a:t>우범자수사 (special)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526280"/>
            <a:ext cx="4846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B7B"/>
                </a:solidFill>
                <a:latin typeface="맑은 고딕"/>
              </a:rPr>
              <a:t>대상: </a:t>
            </a:r>
            <a:r>
              <a:rPr sz="1200" b="1">
                <a:solidFill>
                  <a:srgbClr val="2A9D8F"/>
                </a:solidFill>
                <a:latin typeface="맑은 고딕"/>
              </a:rPr>
              <a:t>개인 · person_id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89204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A6B7B"/>
                </a:solidFill>
                <a:latin typeface="맑은 고딕"/>
              </a:rPr>
              <a:t>초점  </a:t>
            </a:r>
            <a:r>
              <a:rPr sz="1250" b="0">
                <a:solidFill>
                  <a:srgbClr val="1A2033"/>
                </a:solidFill>
                <a:latin typeface="맑은 고딕"/>
              </a:rPr>
              <a:t>반입 기록 · 동행자 · 여행경로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5330952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A6B7B"/>
                </a:solidFill>
                <a:latin typeface="맑은 고딕"/>
              </a:rPr>
              <a:t>탭  </a:t>
            </a:r>
            <a:r>
              <a:rPr sz="1150" b="0">
                <a:solidFill>
                  <a:srgbClr val="5A6B7B"/>
                </a:solidFill>
                <a:latin typeface="맑은 고딕"/>
              </a:rPr>
              <a:t>forensic · network · profile · scenario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3867912"/>
            <a:ext cx="5486400" cy="1993392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4496" y="3867912"/>
            <a:ext cx="146304" cy="1993392"/>
          </a:xfrm>
          <a:prstGeom prst="rect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0256" y="4050792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2033"/>
                </a:solidFill>
                <a:latin typeface="맑은 고딕"/>
              </a:rPr>
              <a:t>국제정보 (intl)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4526280"/>
            <a:ext cx="4846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B7B"/>
                </a:solidFill>
                <a:latin typeface="맑은 고딕"/>
              </a:rPr>
              <a:t>대상: </a:t>
            </a:r>
            <a:r>
              <a:rPr sz="1200" b="1">
                <a:solidFill>
                  <a:srgbClr val="E29A2C"/>
                </a:solidFill>
                <a:latin typeface="맑은 고딕"/>
              </a:rPr>
              <a:t>통합 정보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0256" y="489204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A6B7B"/>
                </a:solidFill>
                <a:latin typeface="맑은 고딕"/>
              </a:rPr>
              <a:t>초점  </a:t>
            </a:r>
            <a:r>
              <a:rPr sz="1250" b="0">
                <a:solidFill>
                  <a:srgbClr val="1A2033"/>
                </a:solidFill>
                <a:latin typeface="맑은 고딕"/>
              </a:rPr>
              <a:t>해외 정보 · 법령/특허 연계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0256" y="5330952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A6B7B"/>
                </a:solidFill>
                <a:latin typeface="맑은 고딕"/>
              </a:rPr>
              <a:t>탭  </a:t>
            </a:r>
            <a:r>
              <a:rPr sz="1150" b="0">
                <a:solidFill>
                  <a:srgbClr val="5A6B7B"/>
                </a:solidFill>
                <a:latin typeface="맑은 고딕"/>
              </a:rPr>
              <a:t>검색 · 요약 · 표준 보고서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맑은 고딕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2033"/>
                </a:solidFill>
                <a:latin typeface="맑은 고딕"/>
              </a:rPr>
              <a:t>주요 기능 모듈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3502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맑은 고딕"/>
              </a:rPr>
              <a:t>분석 구성부터 노드형 플로우까지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691640"/>
            <a:ext cx="359359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1929384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3895" y="1947672"/>
            <a:ext cx="258775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2033"/>
                </a:solidFill>
                <a:latin typeface="맑은 고딕"/>
              </a:rPr>
              <a:t>시나리오 빌더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51760"/>
            <a:ext cx="309067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분석 단계를 수동 구성·저장·불러오기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72968"/>
            <a:ext cx="309067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65A82"/>
                </a:solidFill>
                <a:latin typeface="맑은 고딕"/>
              </a:rPr>
              <a:t>scenario-builder.js · scenario_templates.json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91640"/>
            <a:ext cx="359359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3712" y="1929384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47672"/>
            <a:ext cx="258775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2033"/>
                </a:solidFill>
                <a:latin typeface="맑은 고딕"/>
              </a:rPr>
              <a:t>AI 코칭 · 프롬프트 컴포저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309067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프롬프트 동적 생성·편집, 카드 코칭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72968"/>
            <a:ext cx="309067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C7293"/>
                </a:solidFill>
                <a:latin typeface="맑은 고딕"/>
              </a:rPr>
              <a:t>prompt-composer.js · prompt_overrides.json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691640"/>
            <a:ext cx="359359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66176" y="1929384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1947672"/>
            <a:ext cx="258775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2033"/>
                </a:solidFill>
                <a:latin typeface="맑은 고딕"/>
              </a:rPr>
              <a:t>AI Agentic 플로우 빌더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651760"/>
            <a:ext cx="309067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노드를 시각적으로 연결하는 파이프라인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172968"/>
            <a:ext cx="309067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A9D8F"/>
                </a:solidFill>
                <a:latin typeface="맑은 고딕"/>
              </a:rPr>
              <a:t>agentic-flow.js (Drawflow) · agentic-service.js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3867912"/>
            <a:ext cx="359359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" y="4105656"/>
            <a:ext cx="457200" cy="457200"/>
          </a:xfrm>
          <a:prstGeom prst="ellipse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3895" y="4123944"/>
            <a:ext cx="258775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2033"/>
                </a:solidFill>
                <a:latin typeface="맑은 고딕"/>
              </a:rPr>
              <a:t>관계망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828032"/>
            <a:ext cx="309067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인물/기업 네트워크 시각화·시나리오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349240"/>
            <a:ext cx="309067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B244E"/>
                </a:solidFill>
                <a:latin typeface="맑은 고딕"/>
              </a:rPr>
              <a:t>network-graph.js · neo4j_graph.py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867912"/>
            <a:ext cx="359359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53712" y="4105656"/>
            <a:ext cx="457200" cy="457200"/>
          </a:xfrm>
          <a:prstGeom prst="ellipse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4123944"/>
            <a:ext cx="258775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2033"/>
                </a:solidFill>
                <a:latin typeface="맑은 고딕"/>
              </a:rPr>
              <a:t>한국어 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28032"/>
            <a:ext cx="309067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의미 기반 지식 검색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349240"/>
            <a:ext cx="309067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29A2C"/>
                </a:solidFill>
                <a:latin typeface="맑은 고딕"/>
              </a:rPr>
              <a:t>agent_rag.py · embeddings.py · chroma_db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3867912"/>
            <a:ext cx="359359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66176" y="4105656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78824" y="4123944"/>
            <a:ext cx="258775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2033"/>
                </a:solidFill>
                <a:latin typeface="맑은 고딕"/>
              </a:rPr>
              <a:t>워크스페이스 상태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4828032"/>
            <a:ext cx="309067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맑은 고딕"/>
              </a:rPr>
              <a:t>사용자별 진행 이력 분리 저장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5349240"/>
            <a:ext cx="309067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C7293"/>
                </a:solidFill>
                <a:latin typeface="맑은 고딕"/>
              </a:rPr>
              <a:t>workspace_state/{userId}.json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29A2C"/>
                </a:solidFill>
                <a:latin typeface="맑은 고딕"/>
              </a:rPr>
              <a:t>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디렉터리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3502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ADCFC"/>
                </a:solidFill>
                <a:latin typeface="맑은 고딕"/>
              </a:rPr>
              <a:t>최상위 패키지 한눈에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783080"/>
            <a:ext cx="11018520" cy="512064"/>
          </a:xfrm>
          <a:prstGeom prst="roundRect">
            <a:avLst>
              <a:gd name="adj" fmla="val 8000"/>
            </a:avLst>
          </a:prstGeom>
          <a:solidFill>
            <a:srgbClr val="22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01368"/>
            <a:ext cx="4206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29A2C"/>
                </a:solidFill>
                <a:latin typeface="맑은 고딕"/>
              </a:rPr>
              <a:t>src/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801368"/>
            <a:ext cx="6492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맑은 고딕"/>
              </a:rPr>
              <a:t>Python 백엔드 — agents/ · workflows · llm · embeddings · neo4j_graph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368296"/>
            <a:ext cx="11018520" cy="512064"/>
          </a:xfrm>
          <a:prstGeom prst="roundRect">
            <a:avLst>
              <a:gd name="adj" fmla="val 8000"/>
            </a:avLst>
          </a:prstGeom>
          <a:solidFill>
            <a:srgbClr val="22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86584"/>
            <a:ext cx="4206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29A2C"/>
                </a:solidFill>
                <a:latin typeface="맑은 고딕"/>
              </a:rPr>
              <a:t>web/static/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386584"/>
            <a:ext cx="6492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맑은 고딕"/>
              </a:rPr>
              <a:t>프론트엔드 — js/{pages,analysis,core} · prompts/ · vendor/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2953512"/>
            <a:ext cx="11018520" cy="512064"/>
          </a:xfrm>
          <a:prstGeom prst="roundRect">
            <a:avLst>
              <a:gd name="adj" fmla="val 8000"/>
            </a:avLst>
          </a:prstGeom>
          <a:solidFill>
            <a:srgbClr val="22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4206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29A2C"/>
                </a:solidFill>
                <a:latin typeface="맑은 고딕"/>
              </a:rPr>
              <a:t>data/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971800"/>
            <a:ext cx="6492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맑은 고딕"/>
              </a:rPr>
              <a:t>customs.duckdb · chroma_db/ · workspace_state/ · *.json 설정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3538728"/>
            <a:ext cx="11018520" cy="512064"/>
          </a:xfrm>
          <a:prstGeom prst="roundRect">
            <a:avLst>
              <a:gd name="adj" fmla="val 8000"/>
            </a:avLst>
          </a:prstGeom>
          <a:solidFill>
            <a:srgbClr val="22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57016"/>
            <a:ext cx="4206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29A2C"/>
                </a:solidFill>
                <a:latin typeface="맑은 고딕"/>
              </a:rPr>
              <a:t>config/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57016"/>
            <a:ext cx="6492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맑은 고딕"/>
              </a:rPr>
              <a:t>thresholds.yaml — 위험지표 임계값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" y="4123944"/>
            <a:ext cx="11018520" cy="512064"/>
          </a:xfrm>
          <a:prstGeom prst="roundRect">
            <a:avLst>
              <a:gd name="adj" fmla="val 8000"/>
            </a:avLst>
          </a:prstGeom>
          <a:solidFill>
            <a:srgbClr val="22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42231"/>
            <a:ext cx="4206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29A2C"/>
                </a:solidFill>
                <a:latin typeface="맑은 고딕"/>
              </a:rPr>
              <a:t>files/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142231"/>
            <a:ext cx="6492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맑은 고딕"/>
              </a:rPr>
              <a:t>사용자 업로드 (Import_Declaration 등)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4709159"/>
            <a:ext cx="11018520" cy="512064"/>
          </a:xfrm>
          <a:prstGeom prst="roundRect">
            <a:avLst>
              <a:gd name="adj" fmla="val 8000"/>
            </a:avLst>
          </a:prstGeom>
          <a:solidFill>
            <a:srgbClr val="22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27447"/>
            <a:ext cx="4206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29A2C"/>
                </a:solidFill>
                <a:latin typeface="맑은 고딕"/>
              </a:rPr>
              <a:t>scripts/ · docs/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727447"/>
            <a:ext cx="6492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맑은 고딕"/>
              </a:rPr>
              <a:t>데이터 시드 스크립트 · 문서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" y="5294375"/>
            <a:ext cx="11018520" cy="512064"/>
          </a:xfrm>
          <a:prstGeom prst="roundRect">
            <a:avLst>
              <a:gd name="adj" fmla="val 8000"/>
            </a:avLst>
          </a:prstGeom>
          <a:solidFill>
            <a:srgbClr val="22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12663"/>
            <a:ext cx="4206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29A2C"/>
                </a:solidFill>
                <a:latin typeface="맑은 고딕"/>
              </a:rPr>
              <a:t>web_server.py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5312663"/>
            <a:ext cx="6492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맑은 고딕"/>
              </a:rPr>
              <a:t>HTTP 서버 진입점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" y="5879591"/>
            <a:ext cx="11018520" cy="512064"/>
          </a:xfrm>
          <a:prstGeom prst="roundRect">
            <a:avLst>
              <a:gd name="adj" fmla="val 8000"/>
            </a:avLst>
          </a:prstGeom>
          <a:solidFill>
            <a:srgbClr val="22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97879"/>
            <a:ext cx="4206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29A2C"/>
                </a:solidFill>
                <a:latin typeface="맑은 고딕"/>
              </a:rPr>
              <a:t>requirements.txt · docker-compose*.yml · .env.example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5897879"/>
            <a:ext cx="649224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맑은 고딕"/>
              </a:rPr>
              <a:t>의존성 · 컨테이너 · 환경설정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84048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293"/>
                </a:solidFill>
                <a:latin typeface="맑은 고딕"/>
              </a:rPr>
              <a:t>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2033"/>
                </a:solidFill>
                <a:latin typeface="맑은 고딕"/>
              </a:rPr>
              <a:t>최근 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3502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맑은 고딕"/>
              </a:rPr>
              <a:t>커밋으로 본 기능 발전 방향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83080"/>
            <a:ext cx="36576" cy="4114800"/>
          </a:xfrm>
          <a:prstGeom prst="rect">
            <a:avLst/>
          </a:prstGeom>
          <a:solidFill>
            <a:srgbClr val="E9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43584" y="1892807"/>
            <a:ext cx="292608" cy="292608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1783080"/>
            <a:ext cx="9738360" cy="5669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801368"/>
            <a:ext cx="13716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A9D8F"/>
                </a:solidFill>
                <a:latin typeface="맑은 고딕"/>
              </a:rPr>
              <a:t>6f2f310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01368"/>
            <a:ext cx="80467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AI Agentic 서비스 — 노드 기반 플로우 빌더 추가</a:t>
            </a:r>
          </a:p>
        </p:txBody>
      </p:sp>
      <p:sp>
        <p:nvSpPr>
          <p:cNvPr id="11" name="Oval 10"/>
          <p:cNvSpPr/>
          <p:nvPr/>
        </p:nvSpPr>
        <p:spPr>
          <a:xfrm>
            <a:off x="1243584" y="2569464"/>
            <a:ext cx="292608" cy="29260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800" y="2459736"/>
            <a:ext cx="9738360" cy="5669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2478024"/>
            <a:ext cx="13716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C7293"/>
                </a:solidFill>
                <a:latin typeface="맑은 고딕"/>
              </a:rPr>
              <a:t>358d9ff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80467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프레임 동적 리사이즈 (드래그 거터)</a:t>
            </a:r>
          </a:p>
        </p:txBody>
      </p:sp>
      <p:sp>
        <p:nvSpPr>
          <p:cNvPr id="15" name="Oval 14"/>
          <p:cNvSpPr/>
          <p:nvPr/>
        </p:nvSpPr>
        <p:spPr>
          <a:xfrm>
            <a:off x="1243584" y="3246120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800" y="3136391"/>
            <a:ext cx="9738360" cy="5669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3154679"/>
            <a:ext cx="13716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65A82"/>
                </a:solidFill>
                <a:latin typeface="맑은 고딕"/>
              </a:rPr>
              <a:t>94ac72b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154679"/>
            <a:ext cx="80467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입력 모델 단일화 · 카드 AI 코칭</a:t>
            </a:r>
          </a:p>
        </p:txBody>
      </p:sp>
      <p:sp>
        <p:nvSpPr>
          <p:cNvPr id="19" name="Oval 18"/>
          <p:cNvSpPr/>
          <p:nvPr/>
        </p:nvSpPr>
        <p:spPr>
          <a:xfrm>
            <a:off x="1243584" y="3922776"/>
            <a:ext cx="292608" cy="292608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28800" y="3813048"/>
            <a:ext cx="9738360" cy="5669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3831335"/>
            <a:ext cx="13716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A9D8F"/>
                </a:solidFill>
                <a:latin typeface="맑은 고딕"/>
              </a:rPr>
              <a:t>51fac52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831335"/>
            <a:ext cx="80467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관계망 분석 시나리오 저장·적용</a:t>
            </a:r>
          </a:p>
        </p:txBody>
      </p:sp>
      <p:sp>
        <p:nvSpPr>
          <p:cNvPr id="23" name="Oval 22"/>
          <p:cNvSpPr/>
          <p:nvPr/>
        </p:nvSpPr>
        <p:spPr>
          <a:xfrm>
            <a:off x="1243584" y="4599432"/>
            <a:ext cx="292608" cy="29260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28800" y="4489704"/>
            <a:ext cx="9738360" cy="5669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4507992"/>
            <a:ext cx="13716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C7293"/>
                </a:solidFill>
                <a:latin typeface="맑은 고딕"/>
              </a:rPr>
              <a:t>da1592a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507992"/>
            <a:ext cx="80467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홈 컴포저 가로 흐름 · 프롬프트 자동 생성</a:t>
            </a:r>
          </a:p>
        </p:txBody>
      </p:sp>
      <p:sp>
        <p:nvSpPr>
          <p:cNvPr id="27" name="Oval 26"/>
          <p:cNvSpPr/>
          <p:nvPr/>
        </p:nvSpPr>
        <p:spPr>
          <a:xfrm>
            <a:off x="1243584" y="5276088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828800" y="5166360"/>
            <a:ext cx="9738360" cy="566928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5184648"/>
            <a:ext cx="13716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65A82"/>
                </a:solidFill>
                <a:latin typeface="맑은 고딕"/>
              </a:rPr>
              <a:t>cd53167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184648"/>
            <a:ext cx="80467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033"/>
                </a:solidFill>
                <a:latin typeface="맑은 고딕"/>
              </a:rPr>
              <a:t>진행 작업 상태 사용자별 분리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B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29A2C"/>
                </a:solidFill>
                <a:latin typeface="맑은 고딕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02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핵심 요약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62072"/>
            <a:ext cx="201168" cy="201168"/>
          </a:xfrm>
          <a:prstGeom prst="ellipse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100584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모듈식 멀티 에이전트   </a:t>
            </a:r>
            <a:r>
              <a:rPr sz="1350" b="0">
                <a:solidFill>
                  <a:srgbClr val="CADCFC"/>
                </a:solidFill>
                <a:latin typeface="맑은 고딕"/>
              </a:rPr>
              <a:t>30+ 독립 에이전트 · 레지스트리 기반 · StateGraph 오케스트레이션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611879"/>
            <a:ext cx="201168" cy="201168"/>
          </a:xfrm>
          <a:prstGeom prst="ellipse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538727"/>
            <a:ext cx="100584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3중 데이터 계층   </a:t>
            </a:r>
            <a:r>
              <a:rPr sz="1350" b="0">
                <a:solidFill>
                  <a:srgbClr val="CADCFC"/>
                </a:solidFill>
                <a:latin typeface="맑은 고딕"/>
              </a:rPr>
              <a:t>DuckDB(수치) · Neo4j(관계망) · ChromaDB(한국어 RAG)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361688"/>
            <a:ext cx="201168" cy="201168"/>
          </a:xfrm>
          <a:prstGeom prst="ellipse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0584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4개 조사 도메인   </a:t>
            </a:r>
            <a:r>
              <a:rPr sz="1350" b="0">
                <a:solidFill>
                  <a:srgbClr val="CADCFC"/>
                </a:solidFill>
                <a:latin typeface="맑은 고딕"/>
              </a:rPr>
              <a:t>관세조사 · 기업수사 · 우범자수사 · 국제정보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5111496"/>
            <a:ext cx="201168" cy="201168"/>
          </a:xfrm>
          <a:prstGeom prst="ellipse">
            <a:avLst/>
          </a:prstGeom>
          <a:solidFill>
            <a:srgbClr val="E2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038344"/>
            <a:ext cx="100584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노드형 확장성   </a:t>
            </a:r>
            <a:r>
              <a:rPr sz="1350" b="0">
                <a:solidFill>
                  <a:srgbClr val="CADCFC"/>
                </a:solidFill>
                <a:latin typeface="맑은 고딕"/>
              </a:rPr>
              <a:t>Drawflow 플로우 빌더 · 프롬프트 컴포저로 비개발자도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1264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0D0"/>
                </a:solidFill>
                <a:latin typeface="맑은 고딕"/>
              </a:rPr>
              <a:t>KCS AI Agents · 관세청 AI 통합 분석 플랫폼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